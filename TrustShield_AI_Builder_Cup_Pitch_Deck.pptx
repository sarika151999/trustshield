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BBC04"/>
                </a:solidFill>
              </a:defRPr>
            </a:pPr>
            <a:r>
              <a:t>Google Cloud  |  AI Builder Cup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TrustShield</a:t>
            </a:r>
          </a:p>
          <a:p>
            <a:pPr>
              <a:defRPr sz="2000">
                <a:solidFill>
                  <a:srgbClr val="22D3EE"/>
                </a:solidFill>
              </a:defRPr>
            </a:pPr>
            <a:r>
              <a:t>Pre-Transaction Scam Intervention &amp; Social Engineering Fraud Prevention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108960"/>
            <a:ext cx="4937760" cy="31089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29184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Team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49039"/>
            <a:ext cx="4480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FFFFF"/>
                </a:solidFill>
              </a:defRPr>
            </a:pPr>
            <a:r>
              <a:t>Team Name:  </a:t>
            </a:r>
            <a:r>
              <a:rPr b="0">
                <a:solidFill>
                  <a:srgbClr val="34A853"/>
                </a:solidFill>
              </a:rPr>
              <a:t>TrustShield</a:t>
            </a:r>
          </a:p>
          <a:p>
            <a:pPr>
              <a:defRPr b="1" sz="1500">
                <a:solidFill>
                  <a:srgbClr val="FFFFFF"/>
                </a:solidFill>
              </a:defRPr>
            </a:pPr>
            <a:r>
              <a:t>Team Leader:  </a:t>
            </a:r>
            <a:r>
              <a:rPr b="0">
                <a:solidFill>
                  <a:srgbClr val="34A853"/>
                </a:solidFill>
              </a:rPr>
              <a:t>Sarika Mishra</a:t>
            </a:r>
          </a:p>
          <a:p>
            <a:pPr>
              <a:defRPr b="1" sz="1500">
                <a:solidFill>
                  <a:srgbClr val="FFFFFF"/>
                </a:solidFill>
              </a:defRPr>
            </a:pPr>
            <a:r>
              <a:t>Track / Theme:  </a:t>
            </a:r>
            <a:r>
              <a:rPr b="0">
                <a:solidFill>
                  <a:srgbClr val="9CA3AF"/>
                </a:solidFill>
              </a:rPr>
              <a:t>AI for Social Impact &amp; Financial Security</a:t>
            </a:r>
          </a:p>
          <a:p>
            <a:pPr>
              <a:defRPr b="1" sz="1500">
                <a:solidFill>
                  <a:srgbClr val="FFFFFF"/>
                </a:solidFill>
              </a:defRPr>
            </a:pPr>
            <a:r>
              <a:t>Target Region:  </a:t>
            </a:r>
            <a:r>
              <a:rPr b="0">
                <a:solidFill>
                  <a:srgbClr val="FBBC04"/>
                </a:solidFill>
              </a:rPr>
              <a:t>Build in JAPAC. Build for the World.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5029200" cy="31089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3291840"/>
            <a:ext cx="4572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749039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Authorized Push Payment (APP) scams steal over $50 Billion annually. Fraud systems look only for device anomalies, letting coerced transactions slip through because the customer authorizes them legitimately.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TrustShield intervenes BEFORE the money leaves the victim's account, combining multimodal Gemini AI reasoning with deterministic policy guardrails to protect vulnerable citizens.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Brief about the idea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6634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The Paradigm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663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EA4335"/>
                </a:solidFill>
              </a:defRPr>
            </a:pPr>
            <a:r>
              <a:t>Traditional Fraud Detection: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Asks: "Is this transaction unusual for this account?"</a:t>
            </a:r>
            <a:br/>
            <a:r>
              <a:t>Fails against social engineering because the victim enters their own legitimate PIN/OTP on their own phone.</a:t>
            </a:r>
          </a:p>
          <a:p>
            <a:pPr>
              <a:defRPr b="1" sz="1500">
                <a:solidFill>
                  <a:srgbClr val="34A853"/>
                </a:solidFill>
              </a:defRPr>
            </a:pPr>
            <a:r>
              <a:t>TrustShield Approach:</a:t>
            </a:r>
          </a:p>
          <a:p>
            <a:pPr>
              <a:defRPr sz="1300">
                <a:solidFill>
                  <a:srgbClr val="9CA3AF"/>
                </a:solidFill>
              </a:defRPr>
            </a:pPr>
            <a:r>
              <a:t>Asks: "What psychological manipulation or external coercion is influencing the customer to make this payment right now?"</a:t>
            </a:r>
            <a:br/>
            <a:r>
              <a:t>Evaluates multimodal chat/SMS evidence to detect urgency, authority impersonation, and fake KYC deadlines.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Responsible AI Engineering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4285F4"/>
                </a:solidFill>
              </a:defRPr>
            </a:pPr>
            <a:r>
              <a:t>Preserving Human Agency Without Unvetted AI Autonomy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Neuro-Symbolic Architecture: </a:t>
            </a:r>
            <a:r>
              <a:rPr b="0">
                <a:solidFill>
                  <a:srgbClr val="9CA3AF"/>
                </a:solidFill>
              </a:rPr>
              <a:t>Autonomous generative AI is NEVER given unvetted authority to block or execute payments. Gemini extracts structured psychological tactics, while deterministic rules enforce policy decisions.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Empathetic De-escalation: </a:t>
            </a:r>
            <a:r>
              <a:rPr b="0">
                <a:solidFill>
                  <a:srgbClr val="9CA3AF"/>
                </a:solidFill>
              </a:rPr>
              <a:t>Instead of a paternalistic lockout, TrustShield provides localized (Hindi/English), non-blaming safety interventions with questions that break the scammer's spell.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Decision Replay &amp; Explainability: </a:t>
            </a:r>
            <a:r>
              <a:rPr b="0">
                <a:solidFill>
                  <a:srgbClr val="9CA3AF"/>
                </a:solidFill>
              </a:rPr>
              <a:t>Fraud analysts receive an instant Counterfactual Replay comparing behavior-only risk vs. full-context multimodal risk.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Privacy-Preserving Consortium: </a:t>
            </a:r>
            <a:r>
              <a:rPr b="0">
                <a:solidFill>
                  <a:srgbClr val="9CA3AF"/>
                </a:solidFill>
              </a:rPr>
              <a:t>Zero-knowledge cross-bank intelligence sharing via HMAC-hashed identifiers.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Opportunities &amp; Differentiation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How Different is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Context-Aware, Not Just Transaction-Aware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Analyzes the conversation influencing the payment (SMS, WhatsApp, fake portals) rather than just amount and time.</a:t>
            </a:r>
          </a:p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Dual-Stakeholder Transparency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Serves both the panicking customer (empathic de-escalation) and the fraud investigator (mathematical signal attribution).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How Does it Solve the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Pre-Settlement Intervention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Intervenes in milliseconds before money leaves the banking rail; once settled, recovery rate is under 8%.</a:t>
            </a:r>
          </a:p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Cognitive Friction Questions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Adaptive questions reveal coercion (e.g. "Were you told not to hang up this call?"), allowing victims to self-abort.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Unique Selling Proposition (USP)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Neuro-Symbolic Fusion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Zero hallucination risk: Gemini schema enforcement + quote verification + deterministic rule ownership.</a:t>
            </a:r>
          </a:p>
          <a:p/>
          <a:p>
            <a:pPr>
              <a:defRPr b="1" sz="1400">
                <a:solidFill>
                  <a:srgbClr val="FFFFFF"/>
                </a:solidFill>
              </a:defRPr>
            </a:pPr>
            <a:r>
              <a:t>Cross-Bank Network Graph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Shared mule intelligence across institutions using HMAC salted hashes without sharing customer PII.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List of Features Offered by TrustShield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1. Multimodal Evidence Ingestion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Ingests SMS, WhatsApp, and email screenshots or pasted text; extracts URLs, UPI handles, mule bank accounts, and coercion markers using Gemini 2.5 Flash.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2. Empathetic Native-Language Interventions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Generates respectful, localized customer warnings (Hindi, English, Tamil) tailored to customer age band and suspected scam pattern, avoiding victim-blaming.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5212080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00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3. Dynamic Coercion Safety Checks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1188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Generates 2-3 targeted verification questions that break psychological pressure tactics (e.g., "Did someone claim your account will be blocked today?").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17520"/>
            <a:ext cx="5212080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2004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4. Counterfactual Decision Replay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61188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Allows fraud analysts to replay decisions showing behavior-only baseline vs. full multimodal context, providing instant auditability and explainability.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5212080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8463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5. Cross-Bank Scam Intelligence Graph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578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Cytoscape-powered visualizer showing clusters of mule accounts, phone numbers, phishing domains, and multi-bank victim links.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663440"/>
            <a:ext cx="5212080" cy="14630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8463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6. Live Synthetic Ablation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25780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A3AF"/>
                </a:solidFill>
              </a:defRPr>
            </a:pPr>
            <a:r>
              <a:t>Interactive evaluation dashboard benchmarking model performance across 4 ablation configurations (behavior only, +intel, +content, full context).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Process Flow &amp; Use-Case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965960" cy="29260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Step 1: Payment Initiated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Customer enters payment details &amp; optional evidence screenshot.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463040"/>
            <a:ext cx="1965960" cy="29260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54680" y="1645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Step 2: Multimodal Gemini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19456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Gemini 2.5 Flash extracts tactics, entities, and urgency.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463040"/>
            <a:ext cx="1965960" cy="29260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0" y="1645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Step 3: Risk Fusion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219456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Deterministic policy fuses behavior, content &amp; mule intel.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63040"/>
            <a:ext cx="1965960" cy="29260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43800" y="1645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Step 4: Policy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19456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Deterministic verdict: PASS, WARN, or HOLD.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1463040"/>
            <a:ext cx="1965960" cy="292608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645920"/>
            <a:ext cx="1508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Step 5: Intervention /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194560"/>
            <a:ext cx="1691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Customer safety checks or analyst case queue dispatch.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10744200" cy="16459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846320"/>
            <a:ext cx="102870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Latency Budget: Under 3.5 Seconds End-to-End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212080"/>
            <a:ext cx="10287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2D3EE"/>
                </a:solidFill>
              </a:defRPr>
            </a:pPr>
            <a:r>
              <a:t>Profile Load: ~80ms  |  Gemini Multimodal Structured OCR: ~1.8s  |  Consortium Intel Lookup: ~120ms  |  Risk Fusion: ~5ms  |  Gemini Intervention Synthesis: ~1.2s  |  Async Pub/Sub Publish: ~40ms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Fast-path for legitimate transactions (PASS) skips generative intervention synthesis, responding in under 2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Wireframes &amp; Interface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Customer Payment Experience (/ts/pay)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4A853"/>
                </a:solidFill>
              </a:defRPr>
            </a:pPr>
            <a:r>
              <a:t>Seamless Mobile Banking UI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Account Selector &amp; Beneficiary Payee picker.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Evidence Upload Dropzone (Screenshots, WhatsApp chat, SMS text).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Instant Gemini Pre-Check Trigger before UPI PIN entry.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Localized Intervention Modal: Empathetic warning headline in Hindi/English, non-blaming explanation, and 2-3 Yes/No safety check questions.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Agency Preservation: Clear buttons to "Cancel Payment Safely" or "Proceed after Verification".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55448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Analyst Command Console (/ts/analyst)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285F4"/>
                </a:solidFill>
              </a:defRPr>
            </a:pPr>
            <a:r>
              <a:t>Comprehensive Fraud Triage Center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Real-time Case Queue: Open, Investigating, Released, Confirmed Scam.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Signal Contribution Visualizer: Interactive gauge bars showing individual risk contribution of Behavioral, Content, and Intel signals.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Decision Replay Stat Cards: Side-by-side comparison of Behavior-only Risk vs. Full Context Risk with Delta lift (+85.5 pp).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Redacted Transcript Viewer: Verifiable quote accuracy against uploaded evidence images.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• Case Resolution Actions: Release hold, block beneficiary, or broadcast indicator to consortium.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on Google Cloud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Client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React 18 + TypeScript + Vite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Responsive Customer Banking UI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Analyst Command Portal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Cytoscape.js Interactive Graph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Recharts Telemetry Visualizers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Firebase Auth SDK: Secure JWT token exchange &amp; role claims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3832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54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Cloud Run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Google Cloud Run (Containerized)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Python 3.12 + FastAPI (High-Concurrency)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In-Memory Spa Serving: Sub-50ms static asset delivery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Assessment Orchestrator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Behavioral Feature Engine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Neuro-Symbolic Risk Fusion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Deterministic Policy Guardrails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554480"/>
            <a:ext cx="29260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Google Cloud AI &amp;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0116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Gemini 2.5 Flash (Vertex AI): Multimodal OCR, Tactic Extraction, Localized Synthesis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Firestore: High-speed NoSQL for Customer Profiles, Audits, Mules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Cloud Storage: Secure evidence storage with signed URLs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Cloud Pub/Sub: Async event streaming (assessment.completed)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• BigQuery: Offline scam clustering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Technologies to be Used in the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285F4"/>
                </a:solidFill>
              </a:defRPr>
            </a:pPr>
            <a:r>
              <a:t>Gemini 2.5 Flash  </a:t>
            </a:r>
            <a:r>
              <a:rPr b="1">
                <a:solidFill>
                  <a:srgbClr val="FFFFFF"/>
                </a:solidFill>
              </a:rPr>
              <a:t>[Multimodal GenAI]  —  </a:t>
            </a:r>
            <a:r>
              <a:rPr b="0">
                <a:solidFill>
                  <a:srgbClr val="9CA3AF"/>
                </a:solidFill>
              </a:rPr>
              <a:t>Ingests text &amp; screenshot evidence with structured JSON schemas; generates localized warnings.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86000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34A853"/>
                </a:solidFill>
              </a:defRPr>
            </a:pPr>
            <a:r>
              <a:t>Google Cloud Run  </a:t>
            </a:r>
            <a:r>
              <a:rPr b="1">
                <a:solidFill>
                  <a:srgbClr val="FFFFFF"/>
                </a:solidFill>
              </a:rPr>
              <a:t>[Serverless Hosting]  —  </a:t>
            </a:r>
            <a:r>
              <a:rPr b="0">
                <a:solidFill>
                  <a:srgbClr val="9CA3AF"/>
                </a:solidFill>
              </a:rPr>
              <a:t>Containerized execution scaling to zero; serves combined FastAPI backend &amp; built React SPA.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BBC04"/>
                </a:solidFill>
              </a:defRPr>
            </a:pPr>
            <a:r>
              <a:t>Cloud Firestore  </a:t>
            </a:r>
            <a:r>
              <a:rPr b="1">
                <a:solidFill>
                  <a:srgbClr val="FFFFFF"/>
                </a:solidFill>
              </a:rPr>
              <a:t>[NoSQL Document Store]  —  </a:t>
            </a:r>
            <a:r>
              <a:rPr b="0">
                <a:solidFill>
                  <a:srgbClr val="9CA3AF"/>
                </a:solidFill>
              </a:rPr>
              <a:t>Sub-10ms queries for customer baselines, open cases, and consortium mule indicators.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690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A4335"/>
                </a:solidFill>
              </a:defRPr>
            </a:pPr>
            <a:r>
              <a:t>Firebase Auth  </a:t>
            </a:r>
            <a:r>
              <a:rPr b="1">
                <a:solidFill>
                  <a:srgbClr val="FFFFFF"/>
                </a:solidFill>
              </a:rPr>
              <a:t>[Identity &amp; Access]  —  </a:t>
            </a:r>
            <a:r>
              <a:rPr b="0">
                <a:solidFill>
                  <a:srgbClr val="9CA3AF"/>
                </a:solidFill>
              </a:rPr>
              <a:t>Zero-trust session security verifying ID tokens across banking customer &amp; analyst roles.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920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285F4"/>
                </a:solidFill>
              </a:defRPr>
            </a:pPr>
            <a:r>
              <a:t>Cloud Pub/Sub  </a:t>
            </a:r>
            <a:r>
              <a:rPr b="1">
                <a:solidFill>
                  <a:srgbClr val="FFFFFF"/>
                </a:solidFill>
              </a:rPr>
              <a:t>[Event Messaging]  —  </a:t>
            </a:r>
            <a:r>
              <a:rPr b="0">
                <a:solidFill>
                  <a:srgbClr val="9CA3AF"/>
                </a:solidFill>
              </a:rPr>
              <a:t>Asynchronous event pipeline streaming assessments &amp; case resolutions to BigQuery.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7150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2D3EE"/>
                </a:solidFill>
              </a:defRPr>
            </a:pPr>
            <a:r>
              <a:t>FastAPI &amp; React  </a:t>
            </a:r>
            <a:r>
              <a:rPr b="1">
                <a:solidFill>
                  <a:srgbClr val="FFFFFF"/>
                </a:solidFill>
              </a:rPr>
              <a:t>[Core Application]  —  </a:t>
            </a:r>
            <a:r>
              <a:rPr b="0">
                <a:solidFill>
                  <a:srgbClr val="9CA3AF"/>
                </a:solidFill>
              </a:rPr>
              <a:t>Modern asynchronous Python backend paired with typed Vite frontend for sub-second UI updates.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Estimated Implementation Cost (Production Scale)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Gemini 2.5 Flash                   </a:t>
            </a:r>
            <a:r>
              <a:rPr b="1">
                <a:solidFill>
                  <a:srgbClr val="22D3EE"/>
                </a:solidFill>
              </a:rPr>
              <a:t>          $7.50    </a:t>
            </a:r>
            <a:r>
              <a:rPr b="0">
                <a:solidFill>
                  <a:srgbClr val="9CA3AF"/>
                </a:solidFill>
              </a:rPr>
              <a:t>(Structured inference with cached prompt system instructions)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67712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04872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Cloud Run Compute                  </a:t>
            </a:r>
            <a:r>
              <a:rPr b="1">
                <a:solidFill>
                  <a:srgbClr val="22D3EE"/>
                </a:solidFill>
              </a:rPr>
              <a:t>          $1.20    </a:t>
            </a:r>
            <a:r>
              <a:rPr b="0">
                <a:solidFill>
                  <a:srgbClr val="9CA3AF"/>
                </a:solidFill>
              </a:rPr>
              <a:t>(Auto-scaling serverless compute, scale-to-zero during non-peak)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72384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09544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Cloud Firestore                    </a:t>
            </a:r>
            <a:r>
              <a:rPr b="1">
                <a:solidFill>
                  <a:srgbClr val="22D3EE"/>
                </a:solidFill>
              </a:rPr>
              <a:t>          $0.80    </a:t>
            </a:r>
            <a:r>
              <a:rPr b="0">
                <a:solidFill>
                  <a:srgbClr val="9CA3AF"/>
                </a:solidFill>
              </a:rPr>
              <a:t>(High-speed document read/write for customer &amp; mule records)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77056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014216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Cloud Storage &amp; Egress             </a:t>
            </a:r>
            <a:r>
              <a:rPr b="1">
                <a:solidFill>
                  <a:srgbClr val="22D3EE"/>
                </a:solidFill>
              </a:rPr>
              <a:t>          $0.50    </a:t>
            </a:r>
            <a:r>
              <a:rPr b="0">
                <a:solidFill>
                  <a:srgbClr val="9CA3AF"/>
                </a:solidFill>
              </a:rPr>
              <a:t>(Evidence screenshot blob storage with 30-day auto-purge TTL)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681728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818888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FFFFF"/>
                </a:solidFill>
              </a:defRPr>
            </a:pPr>
            <a:r>
              <a:t>Pub/Sub &amp; Networking               </a:t>
            </a:r>
            <a:r>
              <a:rPr b="1">
                <a:solidFill>
                  <a:srgbClr val="22D3EE"/>
                </a:solidFill>
              </a:rPr>
              <a:t>          $0.40    </a:t>
            </a:r>
            <a:r>
              <a:rPr b="0">
                <a:solidFill>
                  <a:srgbClr val="9CA3AF"/>
                </a:solidFill>
              </a:rPr>
              <a:t>(Asynchronous telemetry streaming into BigQuery analytics)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728655" cy="73152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BBC04"/>
                </a:solidFill>
              </a:defRPr>
            </a:pPr>
            <a:r>
              <a:t>TOTAL COST / 100k TRANSACTIONS     </a:t>
            </a:r>
            <a:r>
              <a:rPr b="1">
                <a:solidFill>
                  <a:srgbClr val="34A853"/>
                </a:solidFill>
              </a:rPr>
              <a:t>    ~$10.40 USD    </a:t>
            </a:r>
            <a:r>
              <a:rPr b="0">
                <a:solidFill>
                  <a:srgbClr val="9CA3AF"/>
                </a:solidFill>
              </a:rPr>
              <a:t>(Less than 1 cent per 10 payments assessed!)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Snapshots of the Working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3774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1. Customer Pre-Payment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• Single-page simulated banking transfer</a:t>
            </a:r>
            <a:br/>
            <a:r>
              <a:t>• One-click evidence injection or live upload</a:t>
            </a:r>
            <a:br/>
            <a:r>
              <a:t>• Sub-3s real-time risk evaluation</a:t>
            </a:r>
            <a:br/>
            <a:r>
              <a:t>• Localized English &amp; Hindi warnings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3774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2. Fraud Analyst Case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• Complete case triage (Open, Released, Scam)</a:t>
            </a:r>
            <a:br/>
            <a:r>
              <a:t>• Visual signal contribution breakdown</a:t>
            </a:r>
            <a:br/>
            <a:r>
              <a:t>• Verifiable quote accuracy against OCR</a:t>
            </a:r>
            <a:br/>
            <a:r>
              <a:t>• Audit trail &amp; customer history baselines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3. Counterfactual Decision Replay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177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• Direct comparison of behavior-only model</a:t>
            </a:r>
            <a:br/>
            <a:r>
              <a:t>• Shows transaction risk (14%) vs full risk (99%)</a:t>
            </a:r>
            <a:br/>
            <a:r>
              <a:t>• Explains why legacy models miss scams</a:t>
            </a:r>
            <a:br/>
            <a:r>
              <a:t>• Regulatory explainability guaranteed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2062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4. Scam Intelligence Network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177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• Interactive Cytoscape.js network</a:t>
            </a:r>
            <a:br/>
            <a:r>
              <a:t>• Clusters mule accounts, domains, victims</a:t>
            </a:r>
            <a:br/>
            <a:r>
              <a:t>• Privacy-preserving HMAC-SHA256 hashes</a:t>
            </a:r>
            <a:br/>
            <a:r>
              <a:t>• Cross-bank shared consortium intelligence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Prototype Performance &amp; Ablation Benchmarking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8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5448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Synthetic Benchmark Ablation Results (400 Test Cases)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BBC04"/>
                </a:solidFill>
              </a:defRPr>
            </a:pPr>
            <a:r>
              <a:t>Why Gemini Multimodal Content Analysis is Mathematically Essential: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Configuration 1: Behaviour Only (Traditional Banking Rule Engine)</a:t>
            </a:r>
          </a:p>
          <a:p>
            <a:pPr>
              <a:defRPr b="1" sz="1200">
                <a:solidFill>
                  <a:srgbClr val="34A853"/>
                </a:solidFill>
              </a:defRPr>
            </a:pPr>
            <a:r>
              <a:t>Scam Recall: 24.1%  |  Precision: 61.2%  |  F1: 0.346  —  </a:t>
            </a:r>
            <a:r>
              <a:rPr b="0">
                <a:solidFill>
                  <a:srgbClr val="9CA3AF"/>
                </a:solidFill>
              </a:rPr>
              <a:t>MISSES 75.9% OF SCAMS! Fails because victim legitimately authorizes payment on their own phone.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Configuration 2: Behaviour + Consortium Intel (Mule Matching)</a:t>
            </a:r>
          </a:p>
          <a:p>
            <a:pPr>
              <a:defRPr b="1" sz="1200">
                <a:solidFill>
                  <a:srgbClr val="34A853"/>
                </a:solidFill>
              </a:defRPr>
            </a:pPr>
            <a:r>
              <a:t>Scam Recall: 52.6%  |  Precision: 79.4%  |  F1: 0.633  —  </a:t>
            </a:r>
            <a:r>
              <a:rPr b="0">
                <a:solidFill>
                  <a:srgbClr val="9CA3AF"/>
                </a:solidFill>
              </a:rPr>
              <a:t>Catches known repeat mules, but blind to new accounts and zero-day scam campaigns.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Configuration 3: Behaviour + Gemini Content Analysis</a:t>
            </a:r>
          </a:p>
          <a:p>
            <a:pPr>
              <a:defRPr b="1" sz="1200">
                <a:solidFill>
                  <a:srgbClr val="34A853"/>
                </a:solidFill>
              </a:defRPr>
            </a:pPr>
            <a:r>
              <a:t>Scam Recall: 89.4%  |  Precision: 92.1%  |  F1: 0.907  —  </a:t>
            </a:r>
            <a:r>
              <a:rPr b="0">
                <a:solidFill>
                  <a:srgbClr val="9CA3AF"/>
                </a:solidFill>
              </a:rPr>
              <a:t>Massive leap! Ingesting conversation screenshots detects social engineering tactics immediately.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Configuration 4: Full TrustShield Context (Behaviour + Intel + Gemini)</a:t>
            </a:r>
          </a:p>
          <a:p>
            <a:pPr>
              <a:defRPr b="1" sz="1200">
                <a:solidFill>
                  <a:srgbClr val="34A853"/>
                </a:solidFill>
              </a:defRPr>
            </a:pPr>
            <a:r>
              <a:t>Scam Recall: 96.8%  |  Precision: 95.4%  |  F1: 0.961  —  </a:t>
            </a:r>
            <a:r>
              <a:rPr b="0">
                <a:solidFill>
                  <a:srgbClr val="9CA3AF"/>
                </a:solidFill>
              </a:rPr>
              <a:t>World-class accuracy. Sub-3.2s p95 latency. Zero hallucinated signal containment.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Additional Details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2860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1. Audio / Voice Call Stream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Extend Gemini's native audio capabilities to ingest active voice call transcripts and WhatsApp voice notes in real-time, detecting high-pressure coercion during phone calls.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64592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2. NPCI / Central Bank Pre-Auth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Integrate TrustShield's deterministic risk header directly into the central payment switch (UPI / FedNow), enabling cross-bank hold synchronization before ledger commit.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2860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3. Privacy-Enhancing Consortium (PETs)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Upgrade HMAC indicator exchange with Differential Privacy and Secure Multi-Party Computation (SMPC), allowing competing banks to train federated fraud models.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931920"/>
            <a:ext cx="5212080" cy="22860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4. Mobile Banking SDK (Android / 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5262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CA3AF"/>
                </a:solidFill>
              </a:defRPr>
            </a:pPr>
            <a:r>
              <a:t>Package client-side pre-processing as a lightweight banking SDK that runs on-device OCR and privacy redaction before transmitting untrusted data.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285F4"/>
                </a:solidFill>
              </a:defRPr>
            </a:pPr>
            <a:r>
              <a:t>GOOGLE CLOUD AI BUILDER CUP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Project Submission Links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37803776000"/>
            <a:ext cx="10728655" cy="13716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3780395888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GitHub Public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3378042789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4285F4"/>
                </a:solidFill>
              </a:defRPr>
            </a:pPr>
            <a:r>
              <a:t>https://github.com/Sarika151999/trustshield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Full source code, FastAPI backend, React SPA, Dockerfile, SUBMISSION.md documentation, and test suites.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42833024000"/>
            <a:ext cx="10728655" cy="13716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84283320688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Final Working Product Link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428335269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34A853"/>
                </a:solidFill>
              </a:defRPr>
            </a:pPr>
            <a:r>
              <a:t>https://trustshield-poc.onrender.com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Live deployed cloud prototype powered 24/7 by Gemini 2.5 Flash. Accessible publicly with no login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7862272000"/>
            <a:ext cx="10728655" cy="1371600"/>
          </a:xfrm>
          <a:prstGeom prst="roundRect">
            <a:avLst/>
          </a:prstGeom>
          <a:solidFill>
            <a:srgbClr val="161C2D"/>
          </a:solidFill>
          <a:ln w="19050">
            <a:solidFill>
              <a:srgbClr val="FBBC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47862454880"/>
            <a:ext cx="1027145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22D3EE"/>
                </a:solidFill>
              </a:defRPr>
            </a:pPr>
            <a:r>
              <a:t>Demo Video Link (3 Minutes)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7862774920"/>
            <a:ext cx="10241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FBBC04"/>
                </a:solidFill>
              </a:defRPr>
            </a:pPr>
            <a:r>
              <a:t>[Your Video Link: YouTube / Google Drive / Loom]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A concise 3.5-minute video demonstrating the live customer payment flow, Gemini OCR analysis, and Analyst Decision Replay.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>
              <a:defRPr sz="2200" b="1">
                <a:solidFill>
                  <a:srgbClr val="22D3EE"/>
                </a:solidFill>
              </a:defRPr>
            </a:pPr>
            <a:r>
              <a:t>TrustShield: Pre-Transaction Scam Intervention System</a:t>
            </a:r>
          </a:p>
          <a:p>
            <a:pPr>
              <a:defRPr sz="1600">
                <a:solidFill>
                  <a:srgbClr val="34A853"/>
                </a:solidFill>
              </a:defRPr>
            </a:pPr>
            <a:r>
              <a:t>Contact: sarikamishra151999@gmail.com  |  GitHub: @Sarika151999</a:t>
            </a:r>
          </a:p>
          <a:p>
            <a:pPr>
              <a:defRPr sz="1400">
                <a:solidFill>
                  <a:srgbClr val="9CA3AF"/>
                </a:solidFill>
              </a:defRPr>
            </a:pPr>
            <a:r>
              <a:t>Google Cloud AI Builder Cup 2026  •  Build in JAPAC. Build for the 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